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  <a:latin typeface="Segoe UI"/>
              </a:defRPr>
            </a:pPr>
            <a:r>
              <a:t>ONLINE QUIZ SYSTEM</a:t>
            </a:r>
          </a:p>
          <a:p>
            <a:pPr>
              <a:spcAft>
                <a:spcPts val="800"/>
              </a:spcAft>
              <a:defRPr sz="2800" b="1">
                <a:solidFill>
                  <a:srgbClr val="38BDF8"/>
                </a:solidFill>
                <a:latin typeface="Segoe UI"/>
              </a:defRPr>
            </a:pPr>
            <a:r>
              <a:t>QUALITY GOAL Q05: REDUCE RESPONSE TIME</a:t>
            </a:r>
          </a:p>
          <a:p>
            <a:pPr>
              <a:defRPr sz="2200">
                <a:solidFill>
                  <a:srgbClr val="E2E8F0"/>
                </a:solidFill>
                <a:latin typeface="Segoe UI"/>
              </a:defRPr>
            </a:pPr>
            <a:r>
              <a:t>Reviews 1 &amp; 2 Presentation — Academic Session 2026–27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4114800"/>
            <a:ext cx="10362895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 rIns="365760"/>
          <a:lstStyle/>
          <a:p>
            <a:pPr algn="ctr">
              <a:spcAft>
                <a:spcPts val="600"/>
              </a:spcAft>
              <a:defRPr sz="2000" b="1">
                <a:solidFill>
                  <a:srgbClr val="38BDF8"/>
                </a:solidFill>
                <a:latin typeface="Segoe UI"/>
              </a:defRPr>
            </a:pPr>
            <a:r>
              <a:t>STUDENT &amp; COURSE DETAILS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• Student Name: Piyush Pilkhwal  |  Roll Number: 2410301049  |  Section: CSE-A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• Course: BBAT104 — Fundamentals of Total Quality Management (TQM)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  <a:latin typeface="Segoe UI"/>
              </a:defRPr>
            </a:pPr>
            <a:r>
              <a:t>• Institution: Amrapali Institute of Technology &amp; Sciences, Haldwani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tIns="0" lIns="0" bIns="0" r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BBAT104 — TOTAL QUALITY MANAGEMENT (TQM)</a:t>
            </a:r>
          </a:p>
          <a:p>
            <a:pPr>
              <a:defRPr sz="3800" b="1">
                <a:solidFill>
                  <a:srgbClr val="1E3A5F"/>
                </a:solidFill>
                <a:latin typeface="Segoe UI"/>
              </a:defRPr>
            </a:pPr>
            <a:r>
              <a:t>The Problem &amp; TQM 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 rIns="182880" bIns="164592"/>
          <a:lstStyle/>
          <a:p>
            <a:pPr algn="ctr">
              <a:spcAft>
                <a:spcPts val="800"/>
              </a:spcAft>
              <a:defRPr sz="2200" b="1">
                <a:solidFill>
                  <a:srgbClr val="B91C1C"/>
                </a:solidFill>
                <a:latin typeface="Segoe UI"/>
              </a:defRPr>
            </a:pPr>
            <a:r>
              <a:t>The Problem (Root Cause)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Full table scans on unindexed tables freeze the UI during exam hours.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Repetitive disk aggregations (COUNT, AVG) slow down dashboard loading.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Loading all past attempts at once exhausts application memory.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Student stress: 'Did my test submit before time ran out?'</a:t>
            </a:r>
          </a:p>
        </p:txBody>
      </p:sp>
      <p:sp>
        <p:nvSpPr>
          <p:cNvPr id="4" name="Right Arrow 3"/>
          <p:cNvSpPr/>
          <p:nvPr/>
        </p:nvSpPr>
        <p:spPr>
          <a:xfrm>
            <a:off x="5943600" y="3749039"/>
            <a:ext cx="36576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4572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95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 rIns="182880" bIns="164592"/>
          <a:lstStyle/>
          <a:p>
            <a:pPr algn="ctr">
              <a:spcAft>
                <a:spcPts val="800"/>
              </a:spcAft>
              <a:defRPr sz="2200" b="1">
                <a:solidFill>
                  <a:srgbClr val="10955A"/>
                </a:solidFill>
                <a:latin typeface="Segoe UI"/>
              </a:defRPr>
            </a:pPr>
            <a:r>
              <a:t>TQM Architectural Fix (Deming 85/15)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85% of delays are architectural flaws, not user or network mistakes.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B-Tree composite indexes eliminate slow table scans entirely.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In-memory RAM caching serves repeated queries in 0.010 ms.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Server-side pagination streams reports in small, fast chunks.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tIns="0" lIns="0" bIns="0" r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BBAT104 — TOTAL QUALITY MANAGEMENT (TQM)</a:t>
            </a:r>
          </a:p>
          <a:p>
            <a:pPr>
              <a:defRPr sz="3800" b="1">
                <a:solidFill>
                  <a:srgbClr val="1E3A5F"/>
                </a:solidFill>
                <a:latin typeface="Segoe UI"/>
              </a:defRPr>
            </a:pPr>
            <a:r>
              <a:t>Q05 Features &amp; Poka-Yoke Controls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 rIns="182880" bIns="164592"/>
          <a:lstStyle/>
          <a:p>
            <a:pPr algn="ctr">
              <a:spcAft>
                <a:spcPts val="800"/>
              </a:spcAft>
              <a:defRPr sz="2200" b="1">
                <a:solidFill>
                  <a:srgbClr val="0284C7"/>
                </a:solidFill>
                <a:latin typeface="Segoe UI"/>
              </a:defRPr>
            </a:pPr>
            <a:r>
              <a:t>5 Quality Features Built (Q05)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1. Fast Search: Indexed, debounced catalog search (3.3 ms).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2. Quick Navigation: Keyboard shortcuts (Alt+D/Q/M/R) with 0 ms lag.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3. Cached Dashboard: 60s RAM buffer avoids repeated disk reads.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4. DB Indexing: 4 B-Tree indexes convert scans to fast lookups.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5. Paginated Reports: LIMIT/OFFSET streaming keeps memory small.</a:t>
            </a:r>
          </a:p>
        </p:txBody>
      </p:sp>
      <p:sp>
        <p:nvSpPr>
          <p:cNvPr id="4" name="Right Arrow 3"/>
          <p:cNvSpPr/>
          <p:nvPr/>
        </p:nvSpPr>
        <p:spPr>
          <a:xfrm>
            <a:off x="5943600" y="3749039"/>
            <a:ext cx="365760" cy="320040"/>
          </a:xfrm>
          <a:prstGeom prst="rightArrow">
            <a:avLst/>
          </a:prstGeom>
          <a:solidFill>
            <a:srgbClr val="109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0" y="164592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 rIns="182880" bIns="164592"/>
          <a:lstStyle/>
          <a:p>
            <a:pPr algn="ctr">
              <a:spcAft>
                <a:spcPts val="800"/>
              </a:spcAft>
              <a:defRPr sz="2200" b="1">
                <a:solidFill>
                  <a:srgbClr val="1E3A5F"/>
                </a:solidFill>
                <a:latin typeface="Segoe UI"/>
              </a:defRPr>
            </a:pPr>
            <a:r>
              <a:t>Poka-Yoke (Mistake-Proofing)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Restricted Keys: Answer keys strictly locked to ['A', 'B', 'C', 'D'].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Blank Protection: Empty questions and options cannot be saved.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Double-Click Guard: Submit button disables to stop duplicate attempts.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Admin Protection: Only teachers/admins can delete active exams.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tIns="0" lIns="0" bIns="0" r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BBAT104 — TOTAL QUALITY MANAGEMENT (TQM)</a:t>
            </a:r>
          </a:p>
          <a:p>
            <a:pPr>
              <a:defRPr sz="3800" b="1">
                <a:solidFill>
                  <a:srgbClr val="1E3A5F"/>
                </a:solidFill>
                <a:latin typeface="Segoe UI"/>
              </a:defRPr>
            </a:pPr>
            <a:r>
              <a:t>Empirical Results &amp; Test Verification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95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 rIns="182880" bIns="164592"/>
          <a:lstStyle/>
          <a:p>
            <a:pPr algn="ctr">
              <a:spcAft>
                <a:spcPts val="800"/>
              </a:spcAft>
              <a:defRPr sz="2200" b="1">
                <a:solidFill>
                  <a:srgbClr val="10955A"/>
                </a:solidFill>
                <a:latin typeface="Segoe UI"/>
              </a:defRPr>
            </a:pPr>
            <a:r>
              <a:t>SLA Benchmarks &amp; Automated Pytest Suite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1. Catalog Fast Search: 3.33 ms  (Target SLA ≤ 40.0 ms)  →  92% margin PASS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2. In-Memory Quiz Load: 2.09 ms  (Target SLA ≤ 50.0 ms)  →  95% margin PASS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3. Cached Dashboard: 0.010 ms  (Target SLA ≤ 15.0 ms)  →  99.9% margin PASS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4. Paginated Reports: 5.71 ms  (Target SLA ≤ 50.0 ms)  →  88% margin PASS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5. Automated Test Proof: 12/12 automated pytest unit and performance tests pass in 1.99s.</a:t>
            </a:r>
          </a:p>
          <a:p>
            <a:pPr>
              <a:spcAft>
                <a:spcPts val="800"/>
              </a:spcAft>
              <a:defRPr sz="2000">
                <a:solidFill>
                  <a:srgbClr val="0F172A"/>
                </a:solidFill>
                <a:latin typeface="Segoe UI"/>
              </a:defRPr>
            </a:pPr>
            <a:r>
              <a:t>• Summary: 100% SLA compliance with zero defects for Reviews 1 and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